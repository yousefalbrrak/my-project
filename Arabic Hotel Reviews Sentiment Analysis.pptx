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39" d="100"/>
          <a:sy n="39" d="100"/>
        </p:scale>
        <p:origin x="168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Bidirectional LSTM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0.84499999999999997</c:v>
                </c:pt>
                <c:pt idx="1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A-4B23-A8FC-BD856132A7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Bidirectional LSTM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0.84499999999999997</c:v>
                </c:pt>
                <c:pt idx="1">
                  <c:v>0.82899999999999996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5A-4B23-A8FC-BD856132A7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10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914400"/>
            <a:ext cx="4572000" cy="4572000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COURSE PROJECT  ·  PHASE 4 PRESENTATION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1371600" cy="2286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 Hotel Reviews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Analysis.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Machine Learning and Deep Learning approaches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105K-review Arabic corpus from Booking.com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10515600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Yousef Mataq Alreshidi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HAIL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55321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Science</a:t>
            </a:r>
            <a:endParaRPr lang="en-US" sz="1300" dirty="0"/>
          </a:p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300" dirty="0"/>
          </a:p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from raw Arabic reviews to a working sentiment classifier.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965960" y="2514600"/>
            <a:ext cx="13716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148840" y="2468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48840" y="2834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Arabic sentiment matters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680960" y="2514600"/>
            <a:ext cx="13716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863840" y="2468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2834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— 105,645 reviews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1965960" y="3520440"/>
            <a:ext cx="13716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148840" y="3474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38404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NLP methods compared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29184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37960" y="3429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7680960" y="3520440"/>
            <a:ext cx="13716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863840" y="3474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63840" y="38404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Arabic 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22960" y="44348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1965960" y="4526280"/>
            <a:ext cx="13716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148840" y="4480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148840" y="48463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LSTM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29768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37960" y="44348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7680960" y="4526280"/>
            <a:ext cx="13716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863840" y="4480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863840" y="48463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comparison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11064240" cy="73837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22960" y="5349240"/>
            <a:ext cx="109728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011680" y="5303520"/>
            <a:ext cx="5486400" cy="738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949440" y="5303520"/>
            <a:ext cx="4572000" cy="738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takeaways, and what comes next 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Arabic sentiment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 now.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and travel platforms receive thousands of Arabic reviews every day. Manual classification is slow, costly, and inconsistent.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ranks among the world's most spoken languages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mix Modern Standard Arabic with regional dialects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5321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NLP research targets English — Arabic stays under-served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2926080"/>
            <a:ext cx="466344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241280" y="2194560"/>
            <a:ext cx="2286000" cy="22860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370332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system that automatically classifies Arabic hotel reviews as Positive or Negative.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0" y="5303520"/>
            <a:ext cx="54864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15200" y="5440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a classical ML model with a deep learning model to find which fits short Arabic text best.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017520" y="116128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Arabic Reviews Dataset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Arabic reviews collected from Booking.com, paired with star ratings (1–5).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" y="2468880"/>
            <a:ext cx="267004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93776" y="2468880"/>
            <a:ext cx="267004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30936" y="283464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105,645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600200" y="3794760"/>
            <a:ext cx="457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0936" y="38862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" y="41605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8416" y="2468880"/>
            <a:ext cx="267004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328416" y="2468880"/>
            <a:ext cx="267004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65576" y="283464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4434840" y="3794760"/>
            <a:ext cx="457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465576" y="38862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65576" y="41605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+ dialects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2468880"/>
            <a:ext cx="267004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267004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00216" y="283464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7269480" y="3794760"/>
            <a:ext cx="457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300216" y="38862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0216" y="41605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97696" y="2468880"/>
            <a:ext cx="267004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997696" y="2468880"/>
            <a:ext cx="2670048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34856" y="283464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50/50</a:t>
            </a:r>
            <a:endParaRPr lang="en-US" sz="3800" dirty="0"/>
          </a:p>
        </p:txBody>
      </p:sp>
      <p:sp>
        <p:nvSpPr>
          <p:cNvPr id="28" name="Shape 26"/>
          <p:cNvSpPr/>
          <p:nvPr/>
        </p:nvSpPr>
        <p:spPr>
          <a:xfrm>
            <a:off x="10104120" y="3794760"/>
            <a:ext cx="457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134856" y="38862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34856" y="41605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distributed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" y="516636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29768" y="5166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1–2</a:t>
            </a: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16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51960" y="516636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251960" y="5166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3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(neutral)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74152" y="516636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074152" y="5166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4–5</a:t>
            </a:r>
            <a:r>
              <a:rPr lang="en-US" sz="16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6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public dataset (mksaad/arabic-hotel-reviews-dataset)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methods,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fair test.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required, we implement one classical ML method and one deep learning method, then compare them on the same test 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4924" y="31089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17804" y="3246120"/>
            <a:ext cx="457200" cy="457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17804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12164" y="327355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2164" y="3611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105K reviews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628900" y="3566160"/>
            <a:ext cx="128016" cy="146304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793492" y="31089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976372" y="3246120"/>
            <a:ext cx="457200" cy="457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976372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70732" y="327355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70732" y="3611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Arabic 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87468" y="3566160"/>
            <a:ext cx="128016" cy="146304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52060" y="31089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234940" y="3246120"/>
            <a:ext cx="457200" cy="457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2349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29300" y="327355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0" y="3611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Tokens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146036" y="3566160"/>
            <a:ext cx="128016" cy="146304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10628" y="31089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493508" y="3246120"/>
            <a:ext cx="457200" cy="457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49350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87868" y="327355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87868" y="3611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&amp; LSTM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404604" y="3566160"/>
            <a:ext cx="128016" cy="146304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569196" y="31089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752076" y="3246120"/>
            <a:ext cx="457200" cy="457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75207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46436" y="327355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346436" y="3611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548640" y="457200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68680" y="4754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 ·  MACHINE LEARNING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5074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+ TF-IDF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8680" y="55778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simple, and a strong baseline. Treats words as features using unigrams and bigrams.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63640" y="45720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263640" y="4572000"/>
            <a:ext cx="73152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583680" y="4754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 ·  DEEP LEARNING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5074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LSTM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583680" y="55778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word order and context by reading the sentence in both directions.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Arabic text.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words appear in many forms — diacritics, alef variants, dialects. We normalize them 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Latin &amp; digits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non-Arabic chars and numbers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42316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651760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0916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diacritics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108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تشكيل (fatha, damma, kasra)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42316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15568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2651760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4964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alef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9640" y="3108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  أ  آ   →   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474720" y="40507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8680" y="41879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letters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599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ة → ه     ·     ى → ي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913632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315200" y="40507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89120" y="4142232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09160" y="41879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punctuation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09160" y="4599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! ? . , and tatweel  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0" y="3913632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1155680" y="40507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0" y="4142232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549640" y="41879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49640" y="45994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common words like في، من، على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0515600" y="489204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68680" y="5513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105,645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clean Arabic reviews — labels balanced &amp; ready to train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TF-IDF features.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TF-IDF?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– Inverse Document Frequency converts text into numerical vectors the model can learn from.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word appears in one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93192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57600" y="4069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34840" y="41148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words that appear in most reviews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440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5440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5440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733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ngram_range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57332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5733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2) — unigrams + bigrams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0258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min_df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60258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86000" y="6025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ignore very rare words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743200"/>
            <a:ext cx="5029200" cy="3611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0241280" y="2011680"/>
            <a:ext cx="2286000" cy="22860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949440" y="3108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4747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model, surprisingly effective.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949440" y="4251960"/>
            <a:ext cx="4572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949440" y="46360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178040" y="45262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words are strong signals ("ممتاز", "سيء")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49440" y="5001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178040" y="48920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short — global context matters less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53675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178040" y="52578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seconds on 84K reviews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9440" y="57332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178040" y="56235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 max_iter=1000, C=1.0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network.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neural network that reads the sentence forward and backward to capture context.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3192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dim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423160" y="3520440"/>
            <a:ext cx="109728" cy="164592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532888" y="3154680"/>
            <a:ext cx="169164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624328" y="33192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24328" y="3657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224528" y="3520440"/>
            <a:ext cx="109728" cy="164592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34256" y="31546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25696" y="33192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25696" y="3657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25896" y="3520440"/>
            <a:ext cx="109728" cy="164592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35624" y="31546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27064" y="33192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27064" y="3657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· ReLU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827264" y="3520440"/>
            <a:ext cx="109728" cy="164592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936992" y="31546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28432" y="33192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28432" y="3657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rot="5400000">
            <a:off x="9628632" y="3520440"/>
            <a:ext cx="109728" cy="164592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738360" y="31546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829800" y="33192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9800" y="3657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Sigmoid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sequences (max 100 tokens)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9536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P(Positive) ∈ [0, 1]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8348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22960" y="51663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22960" y="56235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becomes a 64-dim learned vector — captures semantic meaning.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16552" y="498348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416552" y="498348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690872" y="51663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690872" y="56235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sequence left→right AND right→left to understand context fully.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84464" y="498348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284464" y="498348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558784" y="51663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558784" y="56235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30% of neurons during training to prevent overfitting.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EXPERIMENTS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evaluated both models on the same playing field.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608576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157216" y="2971800"/>
            <a:ext cx="115214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·  84,516  ·  80%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57216" y="2971800"/>
            <a:ext cx="1152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·  20%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21,129 reviews   ·   Stratified split   ·   random_state = 42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9560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4846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Google Colab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218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5212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(TF-IDF + Logistic Regression)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875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5577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 (Bidirectional LSTM)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0533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59436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2606040"/>
            <a:ext cx="47548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858000" y="2606040"/>
            <a:ext cx="47548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78040" y="2880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measured performance.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78040" y="3749040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17804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37033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89520" y="39227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percentage of correct predictions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4251960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178040" y="4251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420624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0" y="44256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4754880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178040" y="4754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470916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89520" y="49286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were correct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78040" y="5257800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178040" y="5257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52120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89520" y="54315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were found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78040" y="5760720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178040" y="5760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57150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89520" y="59344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of predictions vs. truth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Per-model performance.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perform strongly on 21,129 unseen reviews.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532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5321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TF-IDF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84.5%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05556" y="3200400"/>
            <a:ext cx="18288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37560" y="3108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37560" y="4114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4892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· 21,129 reviews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5120640"/>
          <a:ext cx="4892040" cy="1188720"/>
        </p:xfrm>
        <a:graphic>
          <a:graphicData uri="http://schemas.openxmlformats.org/drawingml/2006/table">
            <a:tbl>
              <a:tblPr/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355080" y="2423160"/>
            <a:ext cx="5532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355080" y="2423160"/>
            <a:ext cx="55321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675120" y="2697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37960" y="3108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83.0%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6537960" y="4114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111996" y="3200400"/>
            <a:ext cx="18288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9144000" y="3108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0.829</a:t>
            </a: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9144000" y="4114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675120" y="4617720"/>
            <a:ext cx="4892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6675120" y="4754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75120" y="4754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· 21,129 reviews</a:t>
            </a:r>
            <a:endParaRPr lang="en-US" sz="9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5120640"/>
          <a:ext cx="4892040" cy="1188720"/>
        </p:xfrm>
        <a:graphic>
          <a:graphicData uri="http://schemas.openxmlformats.org/drawingml/2006/table">
            <a:tbl>
              <a:tblPr/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7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versus Deep Learning.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dataset, the simpler model wins — by a small but consistent margin.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858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606040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2468880"/>
            <a:ext cx="42062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949440" y="173736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04672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beats LSTM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046720" y="3703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≈ 1.5 points.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046720" y="4389120"/>
            <a:ext cx="4572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046720" y="4526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49560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275320" y="4846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short — context is limited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53218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275320" y="5212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words are strong by themselves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0" y="5687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275320" y="55778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bigrams already captures phrases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27432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Hotel Reviews · Sentiment Analysis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68680" y="5943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36576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457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worked well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achieved over 84% accuracy on a large balanced Arabic dataset.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1945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251960" y="219456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457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1772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TF-IDF outperformed LSTM on short Arabic reviews.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2440" y="21945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0" dist="508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092440" y="2194560"/>
            <a:ext cx="36576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5820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458200" y="3063240"/>
            <a:ext cx="457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4582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58200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AraBERT or MARBERT — pretrained Arabic transformers — for further gains.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26" name="Shape 24"/>
          <p:cNvSpPr/>
          <p:nvPr/>
        </p:nvSpPr>
        <p:spPr>
          <a:xfrm>
            <a:off x="5852160" y="5852160"/>
            <a:ext cx="4572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Microsoft Office PowerPoint</Application>
  <PresentationFormat>Widescreen</PresentationFormat>
  <Paragraphs>284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Hotel Reviews Sentiment Analysis</dc:title>
  <dc:subject>PptxGenJS Presentation</dc:subject>
  <dc:creator>NLP Team - University of Hail</dc:creator>
  <cp:lastModifiedBy>Mataq G Alreshidi, Yousef</cp:lastModifiedBy>
  <cp:revision>2</cp:revision>
  <dcterms:created xsi:type="dcterms:W3CDTF">2026-05-06T13:08:44Z</dcterms:created>
  <dcterms:modified xsi:type="dcterms:W3CDTF">2026-09-15T20:12:39Z</dcterms:modified>
</cp:coreProperties>
</file>