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3294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Admin</c:v>
                  </c:pt>
                  <c:pt idx="1">
                    <c:v>User</c:v>
                  </c:pt>
                  <c:pt idx="2">
                    <c:v>Book</c:v>
                  </c:pt>
                  <c:pt idx="3">
                    <c:v>Borrow</c:v>
                  </c:pt>
                  <c:pt idx="4">
                    <c:v>Reserve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3294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12700" cap="flat">
              <a:solidFill>
                <a:srgbClr val="E3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657600" cy="3657600"/>
          </a:xfrm>
          <a:prstGeom prst="ellipse">
            <a:avLst/>
          </a:prstGeom>
          <a:solidFill>
            <a:srgbClr val="C9A24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PROJECT  •  CSCE-351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Library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2194560" cy="0"/>
          </a:xfrm>
          <a:prstGeom prst="line">
            <a:avLst/>
          </a:prstGeom>
          <a:noFill/>
          <a:ln w="31750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690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design for digital book borrowing, reservation, and library administration.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983480"/>
            <a:ext cx="758952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9A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51389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513892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Yousef Mataq Al-Rashidi  —  202205757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51560" y="55504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555040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CSCE-351 – Database Systems  |  First Term 2025/2026 (22619)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51560" y="59618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596188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Hail – College of Computer Science and Engineering</a:t>
            </a:r>
            <a:endParaRPr lang="en-US" sz="1250" dirty="0"/>
          </a:p>
        </p:txBody>
      </p:sp>
      <p:pic>
        <p:nvPicPr>
          <p:cNvPr id="16" name="Image 0" descr="/home/claude/icon_database_gol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0195560" y="52578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Online Library System?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57276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89280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scientific resources and e-books is now essential for students, researchers, and readers.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62432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libraries fall short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94436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working hours and difficulty accessing books from distant locations restrict use.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67588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alternative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99592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search for books, borrow them digitally, or reserve a physical copy online.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72744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administration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504748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 panel manages books, users, and borrowing / reservation requests.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52360" y="160020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8778240" y="2331720"/>
            <a:ext cx="1508760" cy="150876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22" name="Image 0" descr="/home/claude/icon_boo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2288" y="2715768"/>
            <a:ext cx="731520" cy="7315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72668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726680" y="4370832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borrow, and reserve books anytime — with a single admin layer keeping data consistent.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Library Management System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REQUIREMENTS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Must Track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685800" cy="685800"/>
          </a:xfrm>
          <a:prstGeom prst="roundRect">
            <a:avLst>
              <a:gd name="adj" fmla="val 66667"/>
            </a:avLst>
          </a:prstGeom>
          <a:solidFill>
            <a:srgbClr val="1E2761"/>
          </a:solidFill>
          <a:ln/>
        </p:spPr>
      </p:sp>
      <p:pic>
        <p:nvPicPr>
          <p:cNvPr id="6" name="Image 0" descr="/home/claude/icon_users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945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8680" y="3319272"/>
            <a:ext cx="288036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6112" y="3584448"/>
            <a:ext cx="73152" cy="7315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Text 7"/>
          <p:cNvSpPr/>
          <p:nvPr/>
        </p:nvSpPr>
        <p:spPr>
          <a:xfrm>
            <a:off x="1078992" y="350215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(unique)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96112" y="4178808"/>
            <a:ext cx="73152" cy="7315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9"/>
          <p:cNvSpPr/>
          <p:nvPr/>
        </p:nvSpPr>
        <p:spPr>
          <a:xfrm>
            <a:off x="1078992" y="40965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User_Name &amp; Email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96112" y="4773168"/>
            <a:ext cx="73152" cy="7315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4" name="Text 11"/>
          <p:cNvSpPr/>
          <p:nvPr/>
        </p:nvSpPr>
        <p:spPr>
          <a:xfrm>
            <a:off x="1078992" y="46908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User_Type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96112" y="5367528"/>
            <a:ext cx="73152" cy="7315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6" name="Text 13"/>
          <p:cNvSpPr/>
          <p:nvPr/>
        </p:nvSpPr>
        <p:spPr>
          <a:xfrm>
            <a:off x="1078992" y="52852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borrow or reserve books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389120" y="169164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09160" y="2011680"/>
            <a:ext cx="685800" cy="685800"/>
          </a:xfrm>
          <a:prstGeom prst="roundRect">
            <a:avLst>
              <a:gd name="adj" fmla="val 66667"/>
            </a:avLst>
          </a:prstGeom>
          <a:solidFill>
            <a:srgbClr val="1E2761"/>
          </a:solidFill>
          <a:ln/>
        </p:spPr>
      </p:sp>
      <p:pic>
        <p:nvPicPr>
          <p:cNvPr id="19" name="Image 1" descr="/home/claude/icon_boo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19456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709160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</a:t>
            </a:r>
            <a:endParaRPr lang="en-US" sz="1900" dirty="0"/>
          </a:p>
        </p:txBody>
      </p:sp>
      <p:sp>
        <p:nvSpPr>
          <p:cNvPr id="21" name="Shape 17"/>
          <p:cNvSpPr/>
          <p:nvPr/>
        </p:nvSpPr>
        <p:spPr>
          <a:xfrm>
            <a:off x="4709160" y="3319272"/>
            <a:ext cx="288036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736592" y="3584448"/>
            <a:ext cx="73152" cy="7315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3" name="Text 19"/>
          <p:cNvSpPr/>
          <p:nvPr/>
        </p:nvSpPr>
        <p:spPr>
          <a:xfrm>
            <a:off x="4919472" y="350215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 (unique)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4736592" y="4178808"/>
            <a:ext cx="73152" cy="7315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5" name="Text 21"/>
          <p:cNvSpPr/>
          <p:nvPr/>
        </p:nvSpPr>
        <p:spPr>
          <a:xfrm>
            <a:off x="4919472" y="40965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&amp; Author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4736592" y="4773168"/>
            <a:ext cx="73152" cy="7315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7" name="Text 23"/>
          <p:cNvSpPr/>
          <p:nvPr/>
        </p:nvSpPr>
        <p:spPr>
          <a:xfrm>
            <a:off x="4919472" y="46908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4736592" y="5367528"/>
            <a:ext cx="73152" cy="7315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9" name="Text 25"/>
          <p:cNvSpPr/>
          <p:nvPr/>
        </p:nvSpPr>
        <p:spPr>
          <a:xfrm>
            <a:off x="4919472" y="52852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Availability_Status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8229600" y="169164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549640" y="2011680"/>
            <a:ext cx="685800" cy="685800"/>
          </a:xfrm>
          <a:prstGeom prst="roundRect">
            <a:avLst>
              <a:gd name="adj" fmla="val 66667"/>
            </a:avLst>
          </a:prstGeom>
          <a:solidFill>
            <a:srgbClr val="1E2761"/>
          </a:solidFill>
          <a:ln/>
        </p:spPr>
      </p:sp>
      <p:pic>
        <p:nvPicPr>
          <p:cNvPr id="32" name="Image 2" descr="/home/claude/icon_admin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194560"/>
            <a:ext cx="320040" cy="32004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549640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Admins</a:t>
            </a:r>
            <a:endParaRPr lang="en-US" sz="1900" dirty="0"/>
          </a:p>
        </p:txBody>
      </p:sp>
      <p:sp>
        <p:nvSpPr>
          <p:cNvPr id="34" name="Shape 29"/>
          <p:cNvSpPr/>
          <p:nvPr/>
        </p:nvSpPr>
        <p:spPr>
          <a:xfrm>
            <a:off x="8549640" y="3319272"/>
            <a:ext cx="288036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577072" y="3584448"/>
            <a:ext cx="73152" cy="7315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6" name="Text 31"/>
          <p:cNvSpPr/>
          <p:nvPr/>
        </p:nvSpPr>
        <p:spPr>
          <a:xfrm>
            <a:off x="8759952" y="350215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Admin_ID (unique)</a:t>
            </a:r>
            <a:endParaRPr lang="en-US" sz="1250" dirty="0"/>
          </a:p>
        </p:txBody>
      </p:sp>
      <p:sp>
        <p:nvSpPr>
          <p:cNvPr id="37" name="Shape 32"/>
          <p:cNvSpPr/>
          <p:nvPr/>
        </p:nvSpPr>
        <p:spPr>
          <a:xfrm>
            <a:off x="8577072" y="4178808"/>
            <a:ext cx="73152" cy="7315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8" name="Text 33"/>
          <p:cNvSpPr/>
          <p:nvPr/>
        </p:nvSpPr>
        <p:spPr>
          <a:xfrm>
            <a:off x="8759952" y="40965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Email</a:t>
            </a:r>
            <a:endParaRPr lang="en-US" sz="1250" dirty="0"/>
          </a:p>
        </p:txBody>
      </p:sp>
      <p:sp>
        <p:nvSpPr>
          <p:cNvPr id="39" name="Shape 34"/>
          <p:cNvSpPr/>
          <p:nvPr/>
        </p:nvSpPr>
        <p:spPr>
          <a:xfrm>
            <a:off x="8577072" y="4773168"/>
            <a:ext cx="73152" cy="7315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40" name="Text 35"/>
          <p:cNvSpPr/>
          <p:nvPr/>
        </p:nvSpPr>
        <p:spPr>
          <a:xfrm>
            <a:off x="8759952" y="46908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privileges</a:t>
            </a:r>
            <a:endParaRPr lang="en-US" sz="1250" dirty="0"/>
          </a:p>
        </p:txBody>
      </p:sp>
      <p:sp>
        <p:nvSpPr>
          <p:cNvPr id="41" name="Shape 36"/>
          <p:cNvSpPr/>
          <p:nvPr/>
        </p:nvSpPr>
        <p:spPr>
          <a:xfrm>
            <a:off x="8577072" y="5367528"/>
            <a:ext cx="73152" cy="7315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42" name="Text 37"/>
          <p:cNvSpPr/>
          <p:nvPr/>
        </p:nvSpPr>
        <p:spPr>
          <a:xfrm>
            <a:off x="8759952" y="52852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users, books &amp; transactions</a:t>
            </a:r>
            <a:endParaRPr lang="en-US" sz="1250" dirty="0"/>
          </a:p>
        </p:txBody>
      </p:sp>
      <p:sp>
        <p:nvSpPr>
          <p:cNvPr id="43" name="Text 3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Library Management System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Entity–Relationship Diagram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entities — User, Book, Admin — connected through Borrow, Reserve, and Manage relationships.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pic>
        <p:nvPicPr>
          <p:cNvPr id="6" name="Image 0" descr="/home/claude/cropped_er_diagram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1033272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Library Management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 model maps into five relational tables linked by foreign keys.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225388" cy="45262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pic>
        <p:nvPicPr>
          <p:cNvPr id="6" name="Image 0" descr="/home/claude/cropped_schema_diagram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3676748" cy="4434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48348" y="1691640"/>
            <a:ext cx="6594708" cy="4526280"/>
          </a:xfrm>
          <a:prstGeom prst="roundRect">
            <a:avLst>
              <a:gd name="adj" fmla="val 202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5368388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Schema</a:t>
            </a:r>
            <a:endParaRPr lang="en-US" sz="1400" dirty="0"/>
          </a:p>
        </p:txBody>
      </p:sp>
      <p:pic>
        <p:nvPicPr>
          <p:cNvPr id="9" name="Image 1" descr="/home/claude/icon_key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388" y="242316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34148" y="2377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734148" y="26700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of the table</a:t>
            </a:r>
            <a:endParaRPr lang="en-US" sz="1150" dirty="0"/>
          </a:p>
        </p:txBody>
      </p:sp>
      <p:pic>
        <p:nvPicPr>
          <p:cNvPr id="12" name="Image 2" descr="/home/claude/icon_key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388" y="331927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34148" y="32735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admin_id in User &amp; Book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734148" y="3566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referencing Admin</a:t>
            </a:r>
            <a:endParaRPr lang="en-US" sz="1150" dirty="0"/>
          </a:p>
        </p:txBody>
      </p:sp>
      <p:pic>
        <p:nvPicPr>
          <p:cNvPr id="15" name="Image 3" descr="/home/claude/icon_key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8388" y="4215384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734148" y="41696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/ Reserve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5734148" y="446227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 (user_id + book_id)</a:t>
            </a:r>
            <a:endParaRPr lang="en-US" sz="1150" dirty="0"/>
          </a:p>
        </p:txBody>
      </p:sp>
      <p:pic>
        <p:nvPicPr>
          <p:cNvPr id="18" name="Image 4" descr="/home/claude/icon_key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8388" y="5111496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734148" y="50657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5734148" y="535838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from a foreign key to its referenced primary key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Library Management System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Tables, One Consistent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508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0" y="1508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COLUMNS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64240" cy="7863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2128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0" descr="/home/claude/icon_admin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304288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1872" y="2011680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3291840" y="2011680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admin_id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2011680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role_privileges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2798064"/>
            <a:ext cx="11064240" cy="786384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15" name="Shape 12"/>
          <p:cNvSpPr/>
          <p:nvPr/>
        </p:nvSpPr>
        <p:spPr>
          <a:xfrm>
            <a:off x="749808" y="29992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/home/claude/icon_user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090672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61872" y="2798064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3291840" y="2798064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126480" y="2798064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user_type, admin_id (FK)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8640" y="3584448"/>
            <a:ext cx="11064240" cy="7863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749808" y="37856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2" descr="/home/claude/icon_boo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877056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61872" y="3584448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3291840" y="3584448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126480" y="358444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author, category, availability_status, admin_id (FK)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48640" y="4370832"/>
            <a:ext cx="11064240" cy="786384"/>
          </a:xfrm>
          <a:prstGeom prst="rect">
            <a:avLst/>
          </a:prstGeom>
          <a:solidFill>
            <a:srgbClr val="EEF1FA"/>
          </a:solidFill>
          <a:ln/>
        </p:spPr>
      </p:sp>
      <p:sp>
        <p:nvSpPr>
          <p:cNvPr id="27" name="Shape 22"/>
          <p:cNvSpPr/>
          <p:nvPr/>
        </p:nvSpPr>
        <p:spPr>
          <a:xfrm>
            <a:off x="749808" y="45720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/home/claude/icon_borrow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663440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61872" y="4370832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3291840" y="4370832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+ book_id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126480" y="4370832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borrow_date, return_date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548640" y="5157216"/>
            <a:ext cx="11064240" cy="7863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7"/>
          <p:cNvSpPr/>
          <p:nvPr/>
        </p:nvSpPr>
        <p:spPr>
          <a:xfrm>
            <a:off x="749808" y="53583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4" descr="/home/claude/icon_reserv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449824"/>
            <a:ext cx="201168" cy="20116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261872" y="5157216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1450" dirty="0"/>
          </a:p>
        </p:txBody>
      </p:sp>
      <p:sp>
        <p:nvSpPr>
          <p:cNvPr id="36" name="Text 29"/>
          <p:cNvSpPr/>
          <p:nvPr/>
        </p:nvSpPr>
        <p:spPr>
          <a:xfrm>
            <a:off x="3291840" y="5157216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+ book_id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6126480" y="5157216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reserve_date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Library Management System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Tables Connect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94360" cy="594360"/>
          </a:xfrm>
          <a:prstGeom prst="roundRect">
            <a:avLst>
              <a:gd name="adj" fmla="val 76923"/>
            </a:avLst>
          </a:prstGeom>
          <a:solidFill>
            <a:srgbClr val="1E2761"/>
          </a:solidFill>
          <a:ln/>
        </p:spPr>
      </p:sp>
      <p:pic>
        <p:nvPicPr>
          <p:cNvPr id="6" name="Image 0" descr="/home/claude/icon_admin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75688"/>
            <a:ext cx="283464" cy="2834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926080" y="201168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2926080" y="20116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→ User / Book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32004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admin manages many users and many books; admin_id is a foreign key in both tables.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164592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920240"/>
            <a:ext cx="594360" cy="594360"/>
          </a:xfrm>
          <a:prstGeom prst="roundRect">
            <a:avLst>
              <a:gd name="adj" fmla="val 76923"/>
            </a:avLst>
          </a:prstGeom>
          <a:solidFill>
            <a:srgbClr val="1E2761"/>
          </a:solidFill>
          <a:ln/>
        </p:spPr>
      </p:sp>
      <p:pic>
        <p:nvPicPr>
          <p:cNvPr id="13" name="Image 1" descr="/home/claude/icon_borrow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075688"/>
            <a:ext cx="283464" cy="2834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766560" y="201168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5" name="Text 11"/>
          <p:cNvSpPr/>
          <p:nvPr/>
        </p:nvSpPr>
        <p:spPr>
          <a:xfrm>
            <a:off x="6766560" y="20116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663440" y="2697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↔ Book (Borrow)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663440" y="32004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can borrow many books over time, and a book can be borrowed by many users — tracked with borrow_date and return_date.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29600" y="1645920"/>
            <a:ext cx="35204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503920" y="1920240"/>
            <a:ext cx="594360" cy="594360"/>
          </a:xfrm>
          <a:prstGeom prst="roundRect">
            <a:avLst>
              <a:gd name="adj" fmla="val 76923"/>
            </a:avLst>
          </a:prstGeom>
          <a:solidFill>
            <a:srgbClr val="1E2761"/>
          </a:solidFill>
          <a:ln/>
        </p:spPr>
      </p:sp>
      <p:pic>
        <p:nvPicPr>
          <p:cNvPr id="20" name="Image 2" descr="/home/claude/icon_reserv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075688"/>
            <a:ext cx="283464" cy="28346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607040" y="201168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2" name="Text 17"/>
          <p:cNvSpPr/>
          <p:nvPr/>
        </p:nvSpPr>
        <p:spPr>
          <a:xfrm>
            <a:off x="10607040" y="20116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N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503920" y="26974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↔ Book (Reserve)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8503920" y="32004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can reserve many books, and a book can be reserved by many users — tracked with reserve_date.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pic>
        <p:nvPicPr>
          <p:cNvPr id="26" name="Image 3" descr="/home/claude/icon_lin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20640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91640" y="49560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691640" y="526694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foreign key (admin_id, user_id, book_id) must reference an existing row, so a book or borrow record can never point to an admin or user that doesn't exist.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Library Management System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Design to a Working Database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was implemented in SQL and populated with sample records for testing.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9436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Records Loaded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2286000"/>
          <a:ext cx="55778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766560" y="173736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pic>
        <p:nvPicPr>
          <p:cNvPr id="9" name="Image 0" descr="/home/claude/icon_admin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432" y="185623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60920" y="17099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Admins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360920" y="202996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distinct role privileges (Manage Users, Books, System).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766560" y="2816352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pic>
        <p:nvPicPr>
          <p:cNvPr id="13" name="Image 1" descr="/home/claude/icon_users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293522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6092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Users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360920" y="310896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student, a teacher, and a researcher — showing varied user_type values.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766560" y="3895344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pic>
        <p:nvPicPr>
          <p:cNvPr id="17" name="Image 2" descr="/home/claude/icon_boo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4014216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60920" y="38679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Books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360920" y="418795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Technology and Programming categories, with mixed availability.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766560" y="4974336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1E2761"/>
          </a:solidFill>
          <a:ln/>
        </p:spPr>
      </p:sp>
      <p:pic>
        <p:nvPicPr>
          <p:cNvPr id="21" name="Image 3" descr="/home/claude/icon_bo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432" y="5093208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360920" y="49469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transactions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7360920" y="5266944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borrow records and 1 reservation demonstrate the M:N relationships in action.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Library Management System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029200" cy="50292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572000" cy="4572000"/>
          </a:xfrm>
          <a:prstGeom prst="ellipse">
            <a:avLst/>
          </a:prstGeom>
          <a:solidFill>
            <a:srgbClr val="C9A24B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Solid Foundation for a Digital Library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9A2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03120"/>
            <a:ext cx="594360" cy="594360"/>
          </a:xfrm>
          <a:prstGeom prst="roundRect">
            <a:avLst>
              <a:gd name="adj" fmla="val 76923"/>
            </a:avLst>
          </a:prstGeom>
          <a:solidFill>
            <a:srgbClr val="C9A24B"/>
          </a:solidFill>
          <a:ln/>
        </p:spPr>
      </p:sp>
      <p:pic>
        <p:nvPicPr>
          <p:cNvPr id="8" name="Image 0" descr="/home/claude/icon_lay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258568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834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Normalized structure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focused tables avoid data duplication across users, books, and admins.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9120" y="18288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9A24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2103120"/>
            <a:ext cx="594360" cy="594360"/>
          </a:xfrm>
          <a:prstGeom prst="roundRect">
            <a:avLst>
              <a:gd name="adj" fmla="val 76923"/>
            </a:avLst>
          </a:prstGeom>
          <a:solidFill>
            <a:srgbClr val="C9A24B"/>
          </a:solidFill>
          <a:ln/>
        </p:spPr>
      </p:sp>
      <p:pic>
        <p:nvPicPr>
          <p:cNvPr id="13" name="Image 1" descr="/home/claude/icon_key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258568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2834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Enforced integrity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63440" y="33375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and foreign keys keep borrow and reserve records consistent and traceable.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29600" y="18288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9A24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03920" y="2103120"/>
            <a:ext cx="594360" cy="594360"/>
          </a:xfrm>
          <a:prstGeom prst="roundRect">
            <a:avLst>
              <a:gd name="adj" fmla="val 76923"/>
            </a:avLst>
          </a:prstGeom>
          <a:solidFill>
            <a:srgbClr val="C9A24B"/>
          </a:solidFill>
          <a:ln/>
        </p:spPr>
      </p:sp>
      <p:pic>
        <p:nvPicPr>
          <p:cNvPr id="18" name="Image 2" descr="/home/claude/icon_clipboar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258568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03920" y="2834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extend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503920" y="333756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due-date fines, notifications, multiple copies per book, and search filters.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48640" y="5532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Yousef Mataq Al-Rashidi  •  202205757  •  CSCE-351, University of Hail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2026-09-15T20:23:11Z</dcterms:created>
  <dcterms:modified xsi:type="dcterms:W3CDTF">2026-09-15T20:23:11Z</dcterms:modified>
</cp:coreProperties>
</file>